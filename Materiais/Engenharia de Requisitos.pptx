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71" r:id="rId1"/>
  </p:sldMasterIdLst>
  <p:notesMasterIdLst>
    <p:notesMasterId r:id="rId42"/>
  </p:notesMasterIdLst>
  <p:handoutMasterIdLst>
    <p:handoutMasterId r:id="rId43"/>
  </p:handoutMasterIdLst>
  <p:sldIdLst>
    <p:sldId id="327" r:id="rId2"/>
    <p:sldId id="427" r:id="rId3"/>
    <p:sldId id="428" r:id="rId4"/>
    <p:sldId id="429" r:id="rId5"/>
    <p:sldId id="430" r:id="rId6"/>
    <p:sldId id="431" r:id="rId7"/>
    <p:sldId id="432" r:id="rId8"/>
    <p:sldId id="433" r:id="rId9"/>
    <p:sldId id="434" r:id="rId10"/>
    <p:sldId id="435" r:id="rId11"/>
    <p:sldId id="436" r:id="rId12"/>
    <p:sldId id="437" r:id="rId13"/>
    <p:sldId id="438" r:id="rId14"/>
    <p:sldId id="447" r:id="rId15"/>
    <p:sldId id="439" r:id="rId16"/>
    <p:sldId id="440" r:id="rId17"/>
    <p:sldId id="441" r:id="rId18"/>
    <p:sldId id="443" r:id="rId19"/>
    <p:sldId id="444" r:id="rId20"/>
    <p:sldId id="445" r:id="rId21"/>
    <p:sldId id="446" r:id="rId22"/>
    <p:sldId id="448" r:id="rId23"/>
    <p:sldId id="449" r:id="rId24"/>
    <p:sldId id="450" r:id="rId25"/>
    <p:sldId id="451" r:id="rId26"/>
    <p:sldId id="452" r:id="rId27"/>
    <p:sldId id="453" r:id="rId28"/>
    <p:sldId id="454" r:id="rId29"/>
    <p:sldId id="455" r:id="rId30"/>
    <p:sldId id="457" r:id="rId31"/>
    <p:sldId id="456" r:id="rId32"/>
    <p:sldId id="458" r:id="rId33"/>
    <p:sldId id="459" r:id="rId34"/>
    <p:sldId id="460" r:id="rId35"/>
    <p:sldId id="461" r:id="rId36"/>
    <p:sldId id="462" r:id="rId37"/>
    <p:sldId id="463" r:id="rId38"/>
    <p:sldId id="464" r:id="rId39"/>
    <p:sldId id="414" r:id="rId40"/>
    <p:sldId id="325" r:id="rId41"/>
  </p:sldIdLst>
  <p:sldSz cx="9144000" cy="5143500" type="screen16x9"/>
  <p:notesSz cx="6858000" cy="9144000"/>
  <p:embeddedFontLst>
    <p:embeddedFont>
      <p:font typeface="Montserrat" panose="020B0604020202020204" charset="0"/>
      <p:regular r:id="rId44"/>
      <p:bold r:id="rId45"/>
      <p:italic r:id="rId46"/>
      <p:boldItalic r:id="rId47"/>
    </p:embeddedFont>
    <p:embeddedFont>
      <p:font typeface="Montserrat SemiBold" panose="020B0604020202020204" charset="0"/>
      <p:bold r:id="rId48"/>
      <p:boldItalic r:id="rId49"/>
    </p:embeddedFont>
    <p:embeddedFont>
      <p:font typeface="Montserrat ExtraBold" panose="020B0604020202020204" charset="0"/>
      <p:bold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7">
          <p15:clr>
            <a:srgbClr val="A4A3A4"/>
          </p15:clr>
        </p15:guide>
        <p15:guide id="2" pos="5558">
          <p15:clr>
            <a:srgbClr val="A4A3A4"/>
          </p15:clr>
        </p15:guide>
        <p15:guide id="3" pos="1304">
          <p15:clr>
            <a:srgbClr val="A4A3A4"/>
          </p15:clr>
        </p15:guide>
        <p15:guide id="4" orient="horz" pos="1620">
          <p15:clr>
            <a:srgbClr val="A4A3A4"/>
          </p15:clr>
        </p15:guide>
        <p15:guide id="5" orient="horz" pos="2623">
          <p15:clr>
            <a:srgbClr val="A4A3A4"/>
          </p15:clr>
        </p15:guide>
        <p15:guide id="6" pos="4320">
          <p15:clr>
            <a:srgbClr val="A4A3A4"/>
          </p15:clr>
        </p15:guide>
        <p15:guide id="7" pos="3118">
          <p15:clr>
            <a:srgbClr val="A4A3A4"/>
          </p15:clr>
        </p15:guide>
        <p15:guide id="8" pos="2976">
          <p15:clr>
            <a:srgbClr val="A4A3A4"/>
          </p15:clr>
        </p15:guide>
        <p15:guide id="9" orient="horz" pos="590">
          <p15:clr>
            <a:srgbClr val="A4A3A4"/>
          </p15:clr>
        </p15:guide>
        <p15:guide id="10" pos="2268">
          <p15:clr>
            <a:srgbClr val="A4A3A4"/>
          </p15:clr>
        </p15:guide>
        <p15:guide id="11" pos="3902">
          <p15:clr>
            <a:srgbClr val="A4A3A4"/>
          </p15:clr>
        </p15:guide>
        <p15:guide id="12" orient="horz" pos="10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4584"/>
    <a:srgbClr val="90CCFA"/>
    <a:srgbClr val="3940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A4F8E9-6C4A-43C1-A0A4-3AFFE95D927F}" v="1313" dt="2024-03-21T14:23:15.106"/>
    <p1510:client id="{7FD582DD-F346-149E-2463-0D0C4DB1A3CE}" v="2426" dt="2024-03-21T14:45:33.167"/>
  </p1510:revLst>
</p1510:revInfo>
</file>

<file path=ppt/tableStyles.xml><?xml version="1.0" encoding="utf-8"?>
<a:tblStyleLst xmlns:a="http://schemas.openxmlformats.org/drawingml/2006/main" def="{FF1A0088-3FF0-4591-AE8C-B39587EE2FD8}">
  <a:tblStyle styleId="{FF1A0088-3FF0-4591-AE8C-B39587EE2F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86"/>
    <p:restoredTop sz="94653"/>
  </p:normalViewPr>
  <p:slideViewPr>
    <p:cSldViewPr snapToGrid="0">
      <p:cViewPr>
        <p:scale>
          <a:sx n="154" d="100"/>
          <a:sy n="154" d="100"/>
        </p:scale>
        <p:origin x="204" y="-156"/>
      </p:cViewPr>
      <p:guideLst>
        <p:guide orient="horz" pos="337"/>
        <p:guide pos="5558"/>
        <p:guide pos="1304"/>
        <p:guide orient="horz" pos="1620"/>
        <p:guide orient="horz" pos="2623"/>
        <p:guide pos="4320"/>
        <p:guide pos="3118"/>
        <p:guide pos="2976"/>
        <p:guide orient="horz" pos="590"/>
        <p:guide pos="2268"/>
        <p:guide pos="3902"/>
        <p:guide orient="horz" pos="105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400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font" Target="fonts/font5.fntdata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5B654EE-46E2-0F4F-A427-90D64B9EDE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03F607F-B941-504A-93E2-B236C592C7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DAE9AD-0277-1C48-A4A6-9639BCA59213}" type="datetimeFigureOut">
              <a:rPr lang="pt-BR" smtClean="0"/>
              <a:t>01/04/2024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ECF70CC-E53D-CB46-9D20-16363D6546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8247280-1666-A146-9E9E-6861B1758A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7252A-A6E1-544A-A976-86DDA00666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78129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8094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39351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3628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5279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6227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2075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64936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08716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01962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21708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47211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48278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32443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68127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52507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98122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50346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86497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05656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86397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5887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20819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80316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3274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19974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11437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41188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76757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53121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3909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1295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07416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7776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57483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681303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36486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474831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de7457949_0_7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de7457949_0_7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3464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516500" y="1001050"/>
            <a:ext cx="6809100" cy="31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4600"/>
              <a:buNone/>
              <a:defRPr sz="4600">
                <a:solidFill>
                  <a:srgbClr val="25252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-5400000">
            <a:off x="-1173125" y="2799675"/>
            <a:ext cx="4615200" cy="92400"/>
          </a:xfrm>
          <a:prstGeom prst="rect">
            <a:avLst/>
          </a:prstGeom>
          <a:solidFill>
            <a:srgbClr val="1745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 rot="-5400000">
            <a:off x="-1772935" y="1844264"/>
            <a:ext cx="4950600" cy="57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 &amp; subtitle slide" type="secHead">
  <p:cSld name="SECTION_HEADER">
    <p:bg>
      <p:bgPr>
        <a:noFill/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477425" y="2095075"/>
            <a:ext cx="3942300" cy="15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477425" y="4030950"/>
            <a:ext cx="27702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/>
          <p:nvPr/>
        </p:nvSpPr>
        <p:spPr>
          <a:xfrm rot="-5400000">
            <a:off x="-1173125" y="2799675"/>
            <a:ext cx="4615200" cy="92400"/>
          </a:xfrm>
          <a:prstGeom prst="rect">
            <a:avLst/>
          </a:prstGeom>
          <a:solidFill>
            <a:srgbClr val="1745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DFEBAE08-9ABD-8C49-902C-993C5B9AA8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35711" y="4555710"/>
            <a:ext cx="402793" cy="4292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slide">
  <p:cSld name="Quote slid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>
            <a:off x="2028900" y="0"/>
            <a:ext cx="5086200" cy="5143500"/>
          </a:xfrm>
          <a:prstGeom prst="parallelogram">
            <a:avLst>
              <a:gd name="adj" fmla="val 25000"/>
            </a:avLst>
          </a:prstGeom>
          <a:solidFill>
            <a:srgbClr val="1745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ubTitle" idx="1"/>
          </p:nvPr>
        </p:nvSpPr>
        <p:spPr>
          <a:xfrm>
            <a:off x="3153525" y="1800750"/>
            <a:ext cx="2523300" cy="211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ubTitle" idx="2"/>
          </p:nvPr>
        </p:nvSpPr>
        <p:spPr>
          <a:xfrm>
            <a:off x="3153525" y="4011203"/>
            <a:ext cx="1894500" cy="106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891CF9F7-DA07-C84F-864D-806C6D7CFD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450000" y="4545630"/>
            <a:ext cx="476544" cy="50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027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92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slide 1">
  <p:cSld name="Title &amp; body slide 1">
    <p:bg>
      <p:bgPr>
        <a:solidFill>
          <a:srgbClr val="252525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/>
          <p:nvPr/>
        </p:nvSpPr>
        <p:spPr>
          <a:xfrm>
            <a:off x="0" y="0"/>
            <a:ext cx="7115100" cy="5143500"/>
          </a:xfrm>
          <a:prstGeom prst="parallelogram">
            <a:avLst>
              <a:gd name="adj" fmla="val 25000"/>
            </a:avLst>
          </a:prstGeom>
          <a:solidFill>
            <a:srgbClr val="1745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1285900" y="458225"/>
            <a:ext cx="4736700" cy="269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Montserrat"/>
              <a:buNone/>
              <a:defRPr sz="4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ubTitle" idx="1"/>
          </p:nvPr>
        </p:nvSpPr>
        <p:spPr>
          <a:xfrm>
            <a:off x="1285900" y="2963125"/>
            <a:ext cx="3961500" cy="106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90CCFA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FCA4BDE1-348E-5543-992F-1203488946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450000" y="4545630"/>
            <a:ext cx="476544" cy="50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469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slide">
  <p:cSld name="Caption slide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496300" y="1198875"/>
            <a:ext cx="50160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 dirty="0"/>
          </a:p>
        </p:txBody>
      </p:sp>
      <p:sp>
        <p:nvSpPr>
          <p:cNvPr id="110" name="Google Shape;110;p17"/>
          <p:cNvSpPr/>
          <p:nvPr/>
        </p:nvSpPr>
        <p:spPr>
          <a:xfrm rot="10800000">
            <a:off x="561900" y="4669200"/>
            <a:ext cx="2289600" cy="92400"/>
          </a:xfrm>
          <a:prstGeom prst="rect">
            <a:avLst/>
          </a:prstGeom>
          <a:solidFill>
            <a:srgbClr val="90CC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E7FF"/>
              </a:solidFill>
            </a:endParaRPr>
          </a:p>
        </p:txBody>
      </p:sp>
      <p:sp>
        <p:nvSpPr>
          <p:cNvPr id="111" name="Google Shape;111;p17"/>
          <p:cNvSpPr txBox="1">
            <a:spLocks noGrp="1"/>
          </p:cNvSpPr>
          <p:nvPr>
            <p:ph type="subTitle" idx="1"/>
          </p:nvPr>
        </p:nvSpPr>
        <p:spPr>
          <a:xfrm>
            <a:off x="496300" y="3315875"/>
            <a:ext cx="3343200" cy="106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7533450-3FD7-F148-8A0D-E3A2C1FE15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498910" y="4555710"/>
            <a:ext cx="402793" cy="42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554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●"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○"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■"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●"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○"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■"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●"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○"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■"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73" r:id="rId3"/>
    <p:sldLayoutId id="2147483675" r:id="rId4"/>
    <p:sldLayoutId id="2147483676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com.ufu.br/~ronaldooliveira/PDS-2019-1/Aula6-ModeloRequisitos.pdf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inf.ufes.br/~jssalamon/wp-content/uploads/disciplinas/engreq/slides/Slide%202%20-%20Introdu%C3%A7%C3%A3o%20%C3%A0%20Engenharia%20de%20Requisitos.pdf" TargetMode="Externa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6"/>
          <p:cNvPicPr preferRelativeResize="0"/>
          <p:nvPr/>
        </p:nvPicPr>
        <p:blipFill rotWithShape="1">
          <a:blip r:embed="rId3">
            <a:alphaModFix/>
          </a:blip>
          <a:srcRect l="13106" t="15681" r="3518" b="17473"/>
          <a:stretch/>
        </p:blipFill>
        <p:spPr>
          <a:xfrm>
            <a:off x="1198475" y="534325"/>
            <a:ext cx="7624521" cy="407485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6"/>
          <p:cNvSpPr txBox="1">
            <a:spLocks noGrp="1"/>
          </p:cNvSpPr>
          <p:nvPr>
            <p:ph type="ctrTitle"/>
          </p:nvPr>
        </p:nvSpPr>
        <p:spPr>
          <a:xfrm>
            <a:off x="1483987" y="1323568"/>
            <a:ext cx="7780154" cy="249636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BR" sz="6000" dirty="0">
                <a:solidFill>
                  <a:srgbClr val="174584"/>
                </a:solidFill>
              </a:rPr>
              <a:t>Engenharia de Requisitos</a:t>
            </a:r>
            <a:br>
              <a:rPr lang="pt-BR" sz="6000" dirty="0">
                <a:solidFill>
                  <a:srgbClr val="174584"/>
                </a:solidFill>
              </a:rPr>
            </a:br>
            <a:r>
              <a:rPr lang="pt-BR" sz="3200" dirty="0">
                <a:solidFill>
                  <a:srgbClr val="174584"/>
                </a:solidFill>
              </a:rPr>
              <a:t/>
            </a:r>
            <a:br>
              <a:rPr lang="pt-BR" sz="3200" dirty="0">
                <a:solidFill>
                  <a:srgbClr val="174584"/>
                </a:solidFill>
              </a:rPr>
            </a:br>
            <a:r>
              <a:rPr lang="pt-BR" sz="3200" dirty="0">
                <a:solidFill>
                  <a:srgbClr val="174584"/>
                </a:solidFill>
              </a:rPr>
              <a:t>				Tarik Ponciano</a:t>
            </a:r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839B6F31-A889-BF4D-B864-4B8705EFC9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588377" y="4333164"/>
            <a:ext cx="1571756" cy="5092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Engenharia de Requisitos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20E39D8-8C81-698D-D3E5-AF254521F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1263699"/>
            <a:ext cx="675991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pt-BR" sz="1600" dirty="0">
                <a:solidFill>
                  <a:schemeClr val="tx1"/>
                </a:solidFill>
                <a:latin typeface="Times New Roman"/>
                <a:cs typeface="Times New Roman"/>
              </a:rPr>
              <a:t>Os requisitos de um sistema são as descrições do que o sistema deve fazer, os serviços que oferece e as restrições a seu funcionamento. </a:t>
            </a:r>
          </a:p>
          <a:p>
            <a:pPr>
              <a:defRPr/>
            </a:pPr>
            <a:endParaRPr lang="pt-BR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pt-BR" sz="1600" dirty="0">
                <a:solidFill>
                  <a:schemeClr val="tx1"/>
                </a:solidFill>
                <a:latin typeface="Times New Roman"/>
                <a:cs typeface="Times New Roman"/>
              </a:rPr>
              <a:t>Esses requisitos refletem as necessidades dos clientes para um sistema que serve a uma finalidade determinada, como controlar um dispositivo, colocar um pedido ou encontrar informações. </a:t>
            </a:r>
          </a:p>
          <a:p>
            <a:pPr>
              <a:defRPr/>
            </a:pPr>
            <a:endParaRPr lang="pt-BR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pt-BR" sz="1600" dirty="0">
                <a:solidFill>
                  <a:schemeClr val="tx1"/>
                </a:solidFill>
                <a:latin typeface="Times New Roman"/>
                <a:cs typeface="Times New Roman"/>
              </a:rPr>
              <a:t>O processo de descobrir, analisar, documentar e verificar esses serviços e restrições é chamado engenharia de requisitos (RE, do inglês requirements</a:t>
            </a:r>
          </a:p>
          <a:p>
            <a:pPr>
              <a:defRPr/>
            </a:pPr>
            <a:r>
              <a:rPr lang="pt-BR" sz="1600" dirty="0" err="1">
                <a:solidFill>
                  <a:schemeClr val="tx1"/>
                </a:solidFill>
                <a:latin typeface="Times New Roman"/>
                <a:cs typeface="Times New Roman"/>
              </a:rPr>
              <a:t>engineering</a:t>
            </a:r>
            <a:r>
              <a:rPr lang="pt-BR" sz="1600" dirty="0">
                <a:solidFill>
                  <a:schemeClr val="tx1"/>
                </a:solidFill>
                <a:latin typeface="Times New Roman"/>
                <a:cs typeface="Times New Roman"/>
              </a:rPr>
              <a:t>).</a:t>
            </a:r>
            <a:endParaRPr lang="pt-BR" sz="20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457200" indent="-457200" algn="just"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endParaRPr lang="pt-BR" alt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851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Engenharia de Requisitos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20E39D8-8C81-698D-D3E5-AF254521F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1243676"/>
            <a:ext cx="6759910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/>
          <a:p>
            <a:pPr algn="just">
              <a:buSzPct val="100000"/>
              <a:defRPr/>
            </a:pPr>
            <a:r>
              <a:rPr lang="pt-BR" alt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termo 'requisito’ não é usado de forma consistente pela indústria de software. Em alguns casos, o requisito é apenas</a:t>
            </a:r>
          </a:p>
          <a:p>
            <a:pPr algn="just">
              <a:buSzPct val="100000"/>
              <a:defRPr/>
            </a:pPr>
            <a:r>
              <a:rPr lang="pt-BR" alt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 declaração abstrata em alto nível de um serviço que o sistema deve oferecer ou uma restrição a um sistema. </a:t>
            </a:r>
          </a:p>
          <a:p>
            <a:pPr algn="just">
              <a:buSzPct val="100000"/>
              <a:defRPr/>
            </a:pPr>
            <a:endParaRPr lang="pt-BR" alt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SzPct val="100000"/>
              <a:defRPr/>
            </a:pPr>
            <a:r>
              <a:rPr lang="pt-BR" alt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outro extremo, é uma definição detalhada e formal de uma função do sistema. </a:t>
            </a:r>
          </a:p>
          <a:p>
            <a:pPr algn="just">
              <a:buSzPct val="100000"/>
              <a:defRPr/>
            </a:pPr>
            <a:endParaRPr lang="pt-BR" alt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SzPct val="100000"/>
              <a:defRPr/>
            </a:pPr>
            <a:r>
              <a:rPr lang="pt-BR" alt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Podemos usar os termos “requisitos de usuário” e “requisitos de sistema” para expressar essa diferença de detalhamento.</a:t>
            </a:r>
          </a:p>
        </p:txBody>
      </p:sp>
    </p:spTree>
    <p:extLst>
      <p:ext uri="{BB962C8B-B14F-4D97-AF65-F5344CB8AC3E}">
        <p14:creationId xmlns:p14="http://schemas.microsoft.com/office/powerpoint/2010/main" val="3323641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Engenharia de Requisitos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20E39D8-8C81-698D-D3E5-AF254521F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1163582"/>
            <a:ext cx="6759910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/>
          <a:p>
            <a:pPr algn="just">
              <a:buSzPct val="100000"/>
              <a:defRPr/>
            </a:pPr>
            <a:r>
              <a:rPr lang="pt-BR" alt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pt-BR" alt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Requisitos de usuário</a:t>
            </a:r>
            <a:r>
              <a:rPr lang="pt-BR" alt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são declarações, em uma linguagem natural com diagramas, de quais serviços o sistema deverá fornecer a seus usuários e as restrições com as quais este deve operar.</a:t>
            </a:r>
          </a:p>
          <a:p>
            <a:pPr algn="just">
              <a:buSzPct val="100000"/>
              <a:defRPr/>
            </a:pPr>
            <a:endParaRPr lang="pt-BR" alt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SzPct val="100000"/>
              <a:defRPr/>
            </a:pPr>
            <a:r>
              <a:rPr lang="pt-BR" alt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pt-BR" alt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Requisitos de sistema</a:t>
            </a:r>
            <a:r>
              <a:rPr lang="pt-BR" alt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são descrições mais detalhadas das funções, serviços e restrições operacionais do sistema de software. O documento de requisitos do sistema (às vezes, chamado especificação funcional) deve definir exatamente o que deve ser implementado. Pode ser parte do contrato entre o comprador do sistema e os desenvolvedores de software.</a:t>
            </a:r>
          </a:p>
        </p:txBody>
      </p:sp>
    </p:spTree>
    <p:extLst>
      <p:ext uri="{BB962C8B-B14F-4D97-AF65-F5344CB8AC3E}">
        <p14:creationId xmlns:p14="http://schemas.microsoft.com/office/powerpoint/2010/main" val="855744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Engenharia de Requisitos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20E39D8-8C81-698D-D3E5-AF254521F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1163582"/>
            <a:ext cx="675991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/>
          <a:p>
            <a:pPr algn="just">
              <a:buSzPct val="100000"/>
              <a:defRPr/>
            </a:pPr>
            <a:r>
              <a:rPr lang="pt-BR" alt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Diferentes níveis de requisitos são úteis, pois eles comunicam informações sobre o sistema para diferentes tipos de leitor.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0B28B4B-46E3-4260-3724-F7A4F171EEDE}"/>
              </a:ext>
            </a:extLst>
          </p:cNvPr>
          <p:cNvSpPr txBox="1"/>
          <p:nvPr/>
        </p:nvSpPr>
        <p:spPr>
          <a:xfrm>
            <a:off x="1669925" y="2033759"/>
            <a:ext cx="719374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leitores dos requisitos de usuário não costumam se preocupar com a forma como o sistema será implementado; podem ser gerentes que não estão interessados nos recursos detalhados do sistema. </a:t>
            </a:r>
          </a:p>
          <a:p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leitores dos requisitos de sistema precisam saber mais detalhadamente o que o sistema fará, porque estão interessados em como ele apoiará os processos dos negócios ou porque estão envolvidos na implementação do sistema.</a:t>
            </a:r>
          </a:p>
        </p:txBody>
      </p:sp>
    </p:spTree>
    <p:extLst>
      <p:ext uri="{BB962C8B-B14F-4D97-AF65-F5344CB8AC3E}">
        <p14:creationId xmlns:p14="http://schemas.microsoft.com/office/powerpoint/2010/main" val="1171682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Engenharia de Requisitos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E6A603B-AF91-19E0-7C6C-1AB2D3B1B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451" y="1001291"/>
            <a:ext cx="2672315" cy="39287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B485F1B-03E0-50B4-8AC2-5FAFCD959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2425" y="1924621"/>
            <a:ext cx="4417053" cy="222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08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Engenharia de Requisitos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4D4D63F-E198-064E-5EF4-5D7B83CD673A}"/>
              </a:ext>
            </a:extLst>
          </p:cNvPr>
          <p:cNvSpPr txBox="1"/>
          <p:nvPr/>
        </p:nvSpPr>
        <p:spPr>
          <a:xfrm>
            <a:off x="1669925" y="1295719"/>
            <a:ext cx="677993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effectLst/>
                <a:latin typeface="Arial" panose="020B0604020202020204" pitchFamily="34" charset="0"/>
              </a:rPr>
              <a:t>Requisitos funcionais: São declarações de serviços que o sistema deve fornecer, de como o sistema deve reagir a entradas específicas e de como o sistema deve se comportar em determinadas situações. Em alguns casos, os requisitos funcionais também podem explicitar o que o sistema não deve fazer.</a:t>
            </a:r>
          </a:p>
          <a:p>
            <a:r>
              <a:rPr lang="pt-BR" dirty="0"/>
              <a:t/>
            </a:r>
            <a:br>
              <a:rPr lang="pt-BR" dirty="0"/>
            </a:br>
            <a:r>
              <a:rPr lang="pt-BR" b="0" i="0" dirty="0">
                <a:effectLst/>
                <a:latin typeface="Arial" panose="020B0604020202020204" pitchFamily="34" charset="0"/>
              </a:rPr>
              <a:t>Requisitos não funcionais: São restrições aos serviços ou funções oferecidos pelo sistema. Incluem restrições de timing, restrições no processo de desenvolvimento e restrições impostas pelas normas. Ao contrário das características individuais ou serviços do sistema, os requisitos não funcionais, muitas vezes, aplicam-se ao sistema como um todo.</a:t>
            </a:r>
          </a:p>
          <a:p>
            <a:endParaRPr lang="pt-BR" dirty="0">
              <a:latin typeface="Arial" panose="020B0604020202020204" pitchFamily="34" charset="0"/>
            </a:endParaRPr>
          </a:p>
          <a:p>
            <a:r>
              <a:rPr lang="pt-BR" dirty="0"/>
              <a:t>Regras de negócio: São definidas como diretrizes ou restrições que especificam como um sistema deve funcionar para atender aos requisitos e objetivos de negócio de uma organização. Essas regras são derivadas das necessidades e políticas do negócio e desempenham um papel crucial na definição do comportamento do sistema.</a:t>
            </a:r>
          </a:p>
        </p:txBody>
      </p:sp>
    </p:spTree>
    <p:extLst>
      <p:ext uri="{BB962C8B-B14F-4D97-AF65-F5344CB8AC3E}">
        <p14:creationId xmlns:p14="http://schemas.microsoft.com/office/powerpoint/2010/main" val="3631124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Engenharia de Requisitos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4D4D63F-E198-064E-5EF4-5D7B83CD673A}"/>
              </a:ext>
            </a:extLst>
          </p:cNvPr>
          <p:cNvSpPr txBox="1"/>
          <p:nvPr/>
        </p:nvSpPr>
        <p:spPr>
          <a:xfrm>
            <a:off x="1669925" y="1295719"/>
            <a:ext cx="677993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effectLst/>
                <a:latin typeface="Arial" panose="020B0604020202020204" pitchFamily="34" charset="0"/>
              </a:rPr>
              <a:t>Na realidade, a distinção entre diferentes tipos de requisitos não é tão clara como sugerem essas definições simples. Um requisito de usuário relacionado com a proteção, tal como uma declaração de limitação de acesso a usuários autorizados, pode parecer um requisito não funcional. </a:t>
            </a:r>
          </a:p>
          <a:p>
            <a:endParaRPr lang="pt-BR" b="0" i="0" dirty="0">
              <a:effectLst/>
              <a:latin typeface="Arial" panose="020B0604020202020204" pitchFamily="34" charset="0"/>
            </a:endParaRPr>
          </a:p>
          <a:p>
            <a:r>
              <a:rPr lang="pt-BR" b="0" i="0" dirty="0">
                <a:effectLst/>
                <a:latin typeface="Arial" panose="020B0604020202020204" pitchFamily="34" charset="0"/>
              </a:rPr>
              <a:t>No entanto, quando desenvolvido em mais detalhes, esse requisito pode gerar outros requisitos, claramente funcionais, como a necessidade de incluir recursos de</a:t>
            </a:r>
          </a:p>
          <a:p>
            <a:r>
              <a:rPr lang="pt-BR" b="0" i="0" dirty="0">
                <a:effectLst/>
                <a:latin typeface="Arial" panose="020B0604020202020204" pitchFamily="34" charset="0"/>
              </a:rPr>
              <a:t>autenticação de usuário no sistema.</a:t>
            </a:r>
          </a:p>
          <a:p>
            <a:endParaRPr lang="pt-BR" b="0" i="0" dirty="0">
              <a:effectLst/>
              <a:latin typeface="Arial" panose="020B0604020202020204" pitchFamily="34" charset="0"/>
            </a:endParaRPr>
          </a:p>
          <a:p>
            <a:r>
              <a:rPr lang="pt-BR" b="0" i="0" dirty="0">
                <a:effectLst/>
                <a:latin typeface="Arial" panose="020B0604020202020204" pitchFamily="34" charset="0"/>
              </a:rPr>
              <a:t>Isso mostra que os requisitos não são independentes e que muitas vezes geram ou restringem outros requisitos. Portanto, os requisitos de sistema não apenas especificam os serviços ou as características necessárias ao sistema, mas também a funcionalidade necessária para garantir que esses serviços/características sejam entregues corretamente.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1976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Requisitos Funcionais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4D4D63F-E198-064E-5EF4-5D7B83CD673A}"/>
              </a:ext>
            </a:extLst>
          </p:cNvPr>
          <p:cNvSpPr txBox="1"/>
          <p:nvPr/>
        </p:nvSpPr>
        <p:spPr>
          <a:xfrm>
            <a:off x="1669925" y="1295719"/>
            <a:ext cx="677993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Os requisitos funcionais descrevem as funcionalidades específicas que o sistema deve fornecer para atender às necessidades do usuário e do negócio.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b="0" i="0" dirty="0"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Eles definem o comportamento do sistema em termos de entradas, saídas e processamento de dados.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b="0" i="0" dirty="0"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Exemplos de requisitos funcionais incluem a capacidade de um sistema de cadastro de clientes de permitir que os usuários criem novas contas, a funcionalidade de um sistema de reservas online que permite aos usuários selecionar e reservar hotéis e a capacidade de um sistema de folha de pagamento de calcular os salários dos funcionários com base em diferentes critérios.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6782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Requisitos Funcionais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4D4D63F-E198-064E-5EF4-5D7B83CD673A}"/>
              </a:ext>
            </a:extLst>
          </p:cNvPr>
          <p:cNvSpPr txBox="1"/>
          <p:nvPr/>
        </p:nvSpPr>
        <p:spPr>
          <a:xfrm>
            <a:off x="1669925" y="1295719"/>
            <a:ext cx="677993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Sistema de Gerenciamento de Biblioteca: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b="0" i="0" dirty="0"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RF1: Permitir que os usuários façam login em suas contas.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RF2: Permitir que os usuários pesquisem livros por título, autor ou categoria.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RF3: Permitir que os usuários solicitem empréstimos de livros disponíveis.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RF4: Permitir que os administradores adicionem, removam ou atualizem informações sobre livros, como título, autor e disponibilidade.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RF5: Enviar notificações por e-mail aos usuários sobre datas de devolução e reservas de livros.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RF6: Gerar relatórios de estatísticas de empréstimos, como livros mais populares e usuários mais ativos.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34162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Requisitos Funcionais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4D4D63F-E198-064E-5EF4-5D7B83CD673A}"/>
              </a:ext>
            </a:extLst>
          </p:cNvPr>
          <p:cNvSpPr txBox="1"/>
          <p:nvPr/>
        </p:nvSpPr>
        <p:spPr>
          <a:xfrm>
            <a:off x="1669925" y="1295719"/>
            <a:ext cx="677993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Sistema de Reservas de Voo: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b="0" i="0" dirty="0"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RF1: Permitir que os usuários pesquisem voos por origem, destino 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RF2: Permitir que os usuários visualizem detalhes dos voos, como horário de partida, horário de chegada e preço.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RF3: Permitir que os usuários selecionem voos e reservem assentos.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RF4: Integrar um sistema de pagamento para processar reservas de voos.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RF5: Enviar confirmações de reserva por e-mail aos usuários.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RF6: Permitir que os usuários cancelem ou modifiquem suas reservas dentro de um determinado período de tempo antes do voo.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9446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Requisitos Funcionais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4D4D63F-E198-064E-5EF4-5D7B83CD673A}"/>
              </a:ext>
            </a:extLst>
          </p:cNvPr>
          <p:cNvSpPr txBox="1"/>
          <p:nvPr/>
        </p:nvSpPr>
        <p:spPr>
          <a:xfrm>
            <a:off x="1669925" y="1295719"/>
            <a:ext cx="677993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Sistema de Gestão de Restaurante: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b="0" i="0" dirty="0"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RF1: Permitir que os clientes visualizem o menu do restaurante.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RF2: Permitir que os clientes façam pedidos de alimentos e bebidas.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RF3: Permitir que os garçons recebam e processem pedidos dos clientes.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RF4: Permitir que os chefs recebam e preparem pedidos na cozinha.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RF5: Manter um registro de estoque de ingredientes e atualizá-lo automaticamente com base nos pedidos recebidos.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RF6: Gerar recibos e contas para os clientes no final da refeição.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0662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Requisitos Não-Funcionais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4D4D63F-E198-064E-5EF4-5D7B83CD673A}"/>
              </a:ext>
            </a:extLst>
          </p:cNvPr>
          <p:cNvSpPr txBox="1"/>
          <p:nvPr/>
        </p:nvSpPr>
        <p:spPr>
          <a:xfrm>
            <a:off x="1669925" y="1295719"/>
            <a:ext cx="677993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Os requisitos não-funcionais especificam os atributos de qualidade do sistema, como desempenho, segurança, usabilidade e escalabilidade.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b="0" i="0" dirty="0"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Eles descrevem as características do sistema que não estão diretamente relacionadas à funcionalidade específica do negócio, mas que são igualmente importantes para a eficácia e utilidade do sistema.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b="0" i="0" dirty="0"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Os requisitos não-funcionais geralmente se aplicam a todo o sistema e têm um impacto transversal em várias áreas.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b="0" i="0" dirty="0"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Exemplos de requisitos não-funcionais incluem requisitos de desempenho (tempo de resposta, escalabilidade), requisitos de segurança (autenticação, autorização), requisitos de usabilidade (facilidade de uso, acessibilidade) e requisitos de manutenibilidade (facilidade de manutenção, modularidade do código).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3367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Requisitos Não-Funcionais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B1842A0-9299-96E3-D220-D62C479B4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925" y="1195599"/>
            <a:ext cx="7209455" cy="3543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349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Requisitos Não-Funcionais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4D4D63F-E198-064E-5EF4-5D7B83CD673A}"/>
              </a:ext>
            </a:extLst>
          </p:cNvPr>
          <p:cNvSpPr txBox="1"/>
          <p:nvPr/>
        </p:nvSpPr>
        <p:spPr>
          <a:xfrm>
            <a:off x="1669925" y="1295719"/>
            <a:ext cx="677993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b="1" i="0" dirty="0">
                <a:solidFill>
                  <a:srgbClr val="0D0D0D"/>
                </a:solidFill>
                <a:effectLst/>
                <a:latin typeface="Söhne"/>
              </a:rPr>
              <a:t>Desempenho:</a:t>
            </a:r>
          </a:p>
          <a:p>
            <a:pPr algn="l"/>
            <a:endParaRPr lang="pt-BR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RNF1: O sistema deve ser capaz de lidar com 1000 transações por minuto durante os horários de pico.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RNF2: O tempo de resposta para qualquer ação do usuário não deve exceder 2 segundos.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RNF3: O sistema deve ser escalável para suportar um aumento de 50% na carga de trabalho dentro de um ano.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dirty="0">
              <a:solidFill>
                <a:srgbClr val="0D0D0D"/>
              </a:solidFill>
              <a:latin typeface="Söhne"/>
            </a:endParaRPr>
          </a:p>
          <a:p>
            <a:pPr algn="l"/>
            <a:r>
              <a:rPr lang="pt-BR" b="1" i="0" dirty="0">
                <a:solidFill>
                  <a:srgbClr val="0D0D0D"/>
                </a:solidFill>
                <a:effectLst/>
                <a:latin typeface="Söhne"/>
              </a:rPr>
              <a:t>Segurança:</a:t>
            </a:r>
          </a:p>
          <a:p>
            <a:pPr algn="l"/>
            <a:endParaRPr lang="pt-BR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RNF4: Todos os dados do usuário devem ser armazenados de forma criptografada no banco de dados.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RNF5: O sistema deve implementar autenticação de dois fatores para acesso dos usuários.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RNF6: O acesso às funcionalidades administrativas deve ser restrito a usuários autorizados por meio de controle de acesso baseado em papéis.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b="0" i="0" dirty="0">
              <a:solidFill>
                <a:srgbClr val="0D0D0D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2039031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Requisitos Não-Funcionais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4D4D63F-E198-064E-5EF4-5D7B83CD673A}"/>
              </a:ext>
            </a:extLst>
          </p:cNvPr>
          <p:cNvSpPr txBox="1"/>
          <p:nvPr/>
        </p:nvSpPr>
        <p:spPr>
          <a:xfrm>
            <a:off x="1669925" y="1173182"/>
            <a:ext cx="677993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b="1" i="0" dirty="0">
                <a:solidFill>
                  <a:srgbClr val="0D0D0D"/>
                </a:solidFill>
                <a:effectLst/>
                <a:latin typeface="Söhne"/>
              </a:rPr>
              <a:t>Usabilidade:</a:t>
            </a:r>
          </a:p>
          <a:p>
            <a:pPr algn="l"/>
            <a:endParaRPr lang="pt-BR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RNF7: O sistema deve ser intuitivo e fácil de usar, com uma curva de aprendizado de no máximo 15 minutos para novos usuários.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RNF8: O sistema deve ser acessível para usuários com deficiências visuais, seguindo as diretrizes de acessibilidade WCAG 2.1.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RNF9: O design da interface do usuário deve ser consistente em todas as telas e seguir as melhores práticas de design de UX.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dirty="0">
              <a:solidFill>
                <a:srgbClr val="0D0D0D"/>
              </a:solidFill>
              <a:latin typeface="Söhne"/>
            </a:endParaRPr>
          </a:p>
          <a:p>
            <a:pPr algn="l"/>
            <a:r>
              <a:rPr lang="pt-BR" b="1" i="0" dirty="0">
                <a:solidFill>
                  <a:srgbClr val="0D0D0D"/>
                </a:solidFill>
                <a:effectLst/>
                <a:latin typeface="Söhne"/>
              </a:rPr>
              <a:t>Confiabilidade:</a:t>
            </a:r>
          </a:p>
          <a:p>
            <a:pPr algn="l"/>
            <a:endParaRPr lang="pt-BR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RNF10: O sistema deve ter um tempo médio entre falhas (MTBF) de pelo menos 1000 horas.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RNF11: Deve haver backups diários dos dados do sistema, com capacidade de recuperação em caso de falha.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RNF12: O sistema deve ser capaz de detectar e corrigir automaticamente erros não críticos sem a intervenção do usuário.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b="0" i="0" dirty="0">
              <a:solidFill>
                <a:srgbClr val="0D0D0D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533010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Requisitos Não-Funcionais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4D4D63F-E198-064E-5EF4-5D7B83CD673A}"/>
              </a:ext>
            </a:extLst>
          </p:cNvPr>
          <p:cNvSpPr txBox="1"/>
          <p:nvPr/>
        </p:nvSpPr>
        <p:spPr>
          <a:xfrm>
            <a:off x="1669925" y="1173182"/>
            <a:ext cx="677993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b="1" i="0" dirty="0">
                <a:solidFill>
                  <a:srgbClr val="0D0D0D"/>
                </a:solidFill>
                <a:effectLst/>
                <a:latin typeface="Söhne"/>
              </a:rPr>
              <a:t>Manutenibilidade:</a:t>
            </a:r>
          </a:p>
          <a:p>
            <a:pPr algn="l"/>
            <a:endParaRPr lang="pt-BR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RNF13: O código-fonte do sistema deve ser bem documentado e seguir padrões de codificação definidos.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RNF14: As atualizações de software devem ser fáceis de implantar e não devem interromper o funcionamento do sistema.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RNF15: O sistema deve ser modular e extensível, permitindo a adição de novas funcionalidades com o mínimo de impacto nas partes existentes.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dirty="0">
              <a:solidFill>
                <a:srgbClr val="0D0D0D"/>
              </a:solidFill>
              <a:latin typeface="Söhne"/>
            </a:endParaRPr>
          </a:p>
          <a:p>
            <a:pPr algn="l"/>
            <a:r>
              <a:rPr lang="pt-BR" b="1" i="0" dirty="0">
                <a:solidFill>
                  <a:srgbClr val="0D0D0D"/>
                </a:solidFill>
                <a:effectLst/>
                <a:latin typeface="Söhne"/>
              </a:rPr>
              <a:t>Compatibilidade:</a:t>
            </a:r>
          </a:p>
          <a:p>
            <a:pPr algn="l"/>
            <a:endParaRPr lang="pt-BR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RNF16: O sistema deve ser compatível com os principais navegadores da web (Chrome, Firefox, Safari, Edge) nas versões mais recentes.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RNF17: O sistema deve ser compatível com diferentes sistemas operacionais, como Windows, </a:t>
            </a:r>
            <a:r>
              <a:rPr lang="pt-BR" b="0" i="0" dirty="0" err="1">
                <a:solidFill>
                  <a:srgbClr val="0D0D0D"/>
                </a:solidFill>
                <a:effectLst/>
                <a:latin typeface="Söhne"/>
              </a:rPr>
              <a:t>macOS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 e Linux.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RNF18: O sistema deve ser capaz de se integrar facilmente a sistemas de terceiros por meio de APIs bem documentadas.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b="0" i="0" dirty="0">
              <a:solidFill>
                <a:srgbClr val="0D0D0D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815621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Regras de Negócio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4D4D63F-E198-064E-5EF4-5D7B83CD673A}"/>
              </a:ext>
            </a:extLst>
          </p:cNvPr>
          <p:cNvSpPr txBox="1"/>
          <p:nvPr/>
        </p:nvSpPr>
        <p:spPr>
          <a:xfrm>
            <a:off x="1669925" y="1295719"/>
            <a:ext cx="677993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As regras de negócio descrevem as restrições, políticas e diretrizes específicas que regem o comportamento do sistema em relação aos processos e operações do negócio.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b="0" i="0" dirty="0"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Elas se concentram em definir como o sistema deve funcionar para atender às necessidades e objetivos do negócio.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b="0" i="0" dirty="0"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Geralmente, as regras de negócio são derivadas dos requisitos e objetivos do negócio, e são voltadas para a lógica de negócio do sistema.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b="0" i="0" dirty="0"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Arial" panose="020B0604020202020204" pitchFamily="34" charset="0"/>
              </a:rPr>
              <a:t>Exemplos de regras de negócio incluem políticas de segurança, validações de dados, processos de negócio e cálculos específicos relacionados aos aspectos operacionais do negócio.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835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Regras de Negócio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4D4D63F-E198-064E-5EF4-5D7B83CD673A}"/>
              </a:ext>
            </a:extLst>
          </p:cNvPr>
          <p:cNvSpPr txBox="1"/>
          <p:nvPr/>
        </p:nvSpPr>
        <p:spPr>
          <a:xfrm>
            <a:off x="1669925" y="1173182"/>
            <a:ext cx="6779932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b="1" i="0" dirty="0">
                <a:solidFill>
                  <a:srgbClr val="0D0D0D"/>
                </a:solidFill>
                <a:effectLst/>
                <a:latin typeface="Söhne"/>
              </a:rPr>
              <a:t>Políticas de Segurança:</a:t>
            </a:r>
          </a:p>
          <a:p>
            <a:pPr algn="l"/>
            <a:endParaRPr lang="pt-BR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RN1: Todos os usuários devem autenticar-se usando credenciais válidas antes de acessar o sistema.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RN2: Os administradores têm permissão para acessar e modificar apenas os dados e configurações relevantes às suas responsabilidades.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RN3: As transações financeiras devem ser protegidas por meio de criptografia e mecanismos de autenticação adicionais.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dirty="0">
              <a:solidFill>
                <a:srgbClr val="0D0D0D"/>
              </a:solidFill>
              <a:latin typeface="Söhne"/>
            </a:endParaRPr>
          </a:p>
          <a:p>
            <a:pPr algn="l"/>
            <a:r>
              <a:rPr lang="pt-BR" b="1" i="0" dirty="0">
                <a:solidFill>
                  <a:srgbClr val="0D0D0D"/>
                </a:solidFill>
                <a:effectLst/>
                <a:latin typeface="Söhne"/>
              </a:rPr>
              <a:t>Validação de Dados:</a:t>
            </a:r>
          </a:p>
          <a:p>
            <a:pPr algn="l"/>
            <a:endParaRPr lang="pt-BR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RN4: Todos os campos obrigatórios em formulários devem ser preenchidos antes que os dados possam ser salvos no sistema.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RN5: As datas de nascimento dos clientes devem estar no formato DD/MM/AAAA e ser válidas.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RN6: O sistema não deve aceitar valores negativos em campos de quantidade ou preço.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b="0" i="0" dirty="0">
              <a:solidFill>
                <a:srgbClr val="0D0D0D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041837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Regras de Negócio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4D4D63F-E198-064E-5EF4-5D7B83CD673A}"/>
              </a:ext>
            </a:extLst>
          </p:cNvPr>
          <p:cNvSpPr txBox="1"/>
          <p:nvPr/>
        </p:nvSpPr>
        <p:spPr>
          <a:xfrm>
            <a:off x="1669925" y="1173182"/>
            <a:ext cx="6779932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b="1" i="0" dirty="0">
                <a:solidFill>
                  <a:srgbClr val="0D0D0D"/>
                </a:solidFill>
                <a:effectLst/>
                <a:latin typeface="Söhne"/>
              </a:rPr>
              <a:t>Regras de Negócio Específicas do Domínio:</a:t>
            </a:r>
          </a:p>
          <a:p>
            <a:pPr algn="l"/>
            <a:endParaRPr lang="pt-BR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RN7: Um cliente só pode ter um único pedido de reserva de hotel ativo por vez.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RN8: Os clientes que adquirirem um plano de assinatura devem ter acesso ilimitado ao conteúdo durante o período da assinatura.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RN9: Os produtos em estoque devem ser automaticamente atualizados quando uma venda for concluída no sistema de PDV.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dirty="0">
              <a:solidFill>
                <a:srgbClr val="0D0D0D"/>
              </a:solidFill>
              <a:latin typeface="Söhne"/>
            </a:endParaRPr>
          </a:p>
          <a:p>
            <a:pPr algn="l"/>
            <a:r>
              <a:rPr lang="pt-BR" b="1" i="0" dirty="0">
                <a:solidFill>
                  <a:srgbClr val="0D0D0D"/>
                </a:solidFill>
                <a:effectLst/>
                <a:latin typeface="Söhne"/>
              </a:rPr>
              <a:t>Políticas de Negócio:</a:t>
            </a:r>
          </a:p>
          <a:p>
            <a:pPr algn="l"/>
            <a:endParaRPr lang="pt-BR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RN10: Os reembolsos só serão processados se solicitados dentro de 30 dias após a data da compra e se o produto estiver em condições adequadas.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RN11: Os funcionários devem solicitar aprovação de um gerente para despesas de viagem que excedam um determinado valor.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RN12: Os clientes que se cadastrarem em uma promoção devem receber um cupom de desconto de boas-vindas por e-mail.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b="0" i="0" dirty="0">
              <a:solidFill>
                <a:srgbClr val="0D0D0D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740600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Regras de Negócio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4D4D63F-E198-064E-5EF4-5D7B83CD673A}"/>
              </a:ext>
            </a:extLst>
          </p:cNvPr>
          <p:cNvSpPr txBox="1"/>
          <p:nvPr/>
        </p:nvSpPr>
        <p:spPr>
          <a:xfrm>
            <a:off x="1669925" y="1173182"/>
            <a:ext cx="677993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b="1" i="0" dirty="0">
                <a:solidFill>
                  <a:srgbClr val="0D0D0D"/>
                </a:solidFill>
                <a:effectLst/>
                <a:latin typeface="Söhne"/>
              </a:rPr>
              <a:t>Restrições Regulatórias:</a:t>
            </a:r>
          </a:p>
          <a:p>
            <a:pPr algn="l"/>
            <a:endParaRPr lang="pt-BR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RN13: O sistema deve reter os registros de transações financeiras por um período mínimo de 5 anos para estar em conformidade com regulamentações fiscais.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RN14: As transações de pagamento online devem seguir as normas de segurança PCI DSS para proteger os dados do cartão de crédito dos clientes.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RN15: Os dados pessoais dos clientes devem ser tratados de acordo com as leis de proteção de dados, como o GDPR na União Europeia.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b="0" i="0" dirty="0">
              <a:solidFill>
                <a:srgbClr val="0D0D0D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4202970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Documento de Requisitos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4D4D63F-E198-064E-5EF4-5D7B83CD673A}"/>
              </a:ext>
            </a:extLst>
          </p:cNvPr>
          <p:cNvSpPr txBox="1"/>
          <p:nvPr/>
        </p:nvSpPr>
        <p:spPr>
          <a:xfrm>
            <a:off x="1669925" y="1295719"/>
            <a:ext cx="677993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effectLst/>
                <a:latin typeface="Arial" panose="020B0604020202020204" pitchFamily="34" charset="0"/>
              </a:rPr>
              <a:t>É uma declaração oficial de o que os desenvolvedores do sistema de</a:t>
            </a:r>
          </a:p>
          <a:p>
            <a:r>
              <a:rPr lang="pt-BR" b="0" i="0" dirty="0">
                <a:effectLst/>
                <a:latin typeface="Arial" panose="020B0604020202020204" pitchFamily="34" charset="0"/>
              </a:rPr>
              <a:t>vem implementar. Deve incluir tanto os requisitos de usuário para um sistema quanto uma especificação detalhada dos requisitos de sistema.</a:t>
            </a:r>
          </a:p>
          <a:p>
            <a:endParaRPr lang="pt-BR" b="0" i="0" dirty="0">
              <a:effectLst/>
              <a:latin typeface="Arial" panose="020B0604020202020204" pitchFamily="34" charset="0"/>
            </a:endParaRPr>
          </a:p>
          <a:p>
            <a:r>
              <a:rPr lang="pt-BR" b="0" i="0" dirty="0">
                <a:effectLst/>
                <a:latin typeface="Arial" panose="020B0604020202020204" pitchFamily="34" charset="0"/>
              </a:rPr>
              <a:t>Em alguns casos, os requisitos de usuário e de sistema são integrados em uma única descrição. Em outros, os requisitos de usuário são definidos em uma introdução à especificação de requisitos de sistema. </a:t>
            </a:r>
          </a:p>
          <a:p>
            <a:endParaRPr lang="pt-BR" b="0" i="0" dirty="0">
              <a:effectLst/>
              <a:latin typeface="Arial" panose="020B0604020202020204" pitchFamily="34" charset="0"/>
            </a:endParaRPr>
          </a:p>
          <a:p>
            <a:r>
              <a:rPr lang="pt-BR" b="0" i="0" dirty="0">
                <a:effectLst/>
                <a:latin typeface="Arial" panose="020B0604020202020204" pitchFamily="34" charset="0"/>
              </a:rPr>
              <a:t>Se houver um grande número de requisitos, os requisitos detalhados de sistema podem ser apresentados em um documento separado.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EC92B09-6401-3F94-A686-4E419DDC9B97}"/>
              </a:ext>
            </a:extLst>
          </p:cNvPr>
          <p:cNvSpPr txBox="1"/>
          <p:nvPr/>
        </p:nvSpPr>
        <p:spPr>
          <a:xfrm>
            <a:off x="2075754" y="3836916"/>
            <a:ext cx="615384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Os métodos ágeis de desenvolvimento argumentam que os requisitos mudam tão rapidamente que um documento de requisitos já está ultrapassado assim que termina de ser escrito. </a:t>
            </a: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1283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Documento de Requisitos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12C45AA-B4CC-7779-8CC8-A4EE53DD0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133" y="1001291"/>
            <a:ext cx="2877733" cy="3977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2369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Documento de Requisitos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C3731A2-6EC5-B6B7-A873-26A592065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853" y="1001291"/>
            <a:ext cx="4480222" cy="413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998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BA5680C0-E8CE-2728-DA51-D129E2D78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5045"/>
            <a:ext cx="9144000" cy="3253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336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3CC5FDD-57D0-82B4-030C-A1BFE2B05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324057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4156F21-E4DE-E02F-3586-63EB9B36E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53807"/>
            <a:ext cx="9144000" cy="156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5503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EF3BC90-81A6-26D3-5CE9-F7EC56880BF0}"/>
              </a:ext>
            </a:extLst>
          </p:cNvPr>
          <p:cNvSpPr txBox="1"/>
          <p:nvPr/>
        </p:nvSpPr>
        <p:spPr>
          <a:xfrm>
            <a:off x="2286000" y="2314728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https://www.facom.ufu.br/~ronaldooliveira/PDS-2019-1/Aula6-ModeloRequisitos.pdf</a:t>
            </a:r>
          </a:p>
        </p:txBody>
      </p:sp>
    </p:spTree>
    <p:extLst>
      <p:ext uri="{BB962C8B-B14F-4D97-AF65-F5344CB8AC3E}">
        <p14:creationId xmlns:p14="http://schemas.microsoft.com/office/powerpoint/2010/main" val="24924558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Especificação de Requisitos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2C37F4A-4A53-F84F-E8F4-BF474E704ED0}"/>
              </a:ext>
            </a:extLst>
          </p:cNvPr>
          <p:cNvSpPr txBox="1"/>
          <p:nvPr/>
        </p:nvSpPr>
        <p:spPr>
          <a:xfrm>
            <a:off x="1669925" y="1295719"/>
            <a:ext cx="677993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effectLst/>
                <a:latin typeface="Arial" panose="020B0604020202020204" pitchFamily="34" charset="0"/>
              </a:rPr>
              <a:t>A especificação de requisitos é o processo de escrever os requisitos de usuário e de sistema em um documento de requisitos. Idealmente, os requisitos de usuário e de sistema devem ser claros, inequívocos, de fácil compreensão, completos e consistentes. </a:t>
            </a:r>
          </a:p>
          <a:p>
            <a:endParaRPr lang="pt-BR" b="0" i="0" dirty="0">
              <a:effectLst/>
              <a:latin typeface="Arial" panose="020B0604020202020204" pitchFamily="34" charset="0"/>
            </a:endParaRPr>
          </a:p>
          <a:p>
            <a:r>
              <a:rPr lang="pt-BR" b="0" i="0" dirty="0">
                <a:effectLst/>
                <a:latin typeface="Arial" panose="020B0604020202020204" pitchFamily="34" charset="0"/>
              </a:rPr>
              <a:t>Na prática, isso é difícil de conseguir, pois os stakeholders interpretam os requisitos</a:t>
            </a:r>
            <a:r>
              <a:rPr lang="pt-BR" dirty="0"/>
              <a:t/>
            </a:r>
            <a:br>
              <a:rPr lang="pt-BR" dirty="0"/>
            </a:br>
            <a:r>
              <a:rPr lang="pt-BR" b="0" i="0" dirty="0">
                <a:effectLst/>
                <a:latin typeface="Arial" panose="020B0604020202020204" pitchFamily="34" charset="0"/>
              </a:rPr>
              <a:t>de maneiras diferentes, e, muitas vezes, notam-se conflitos e inconsistências inerentes aos requisitos.</a:t>
            </a:r>
            <a:endParaRPr lang="pt-BR" dirty="0"/>
          </a:p>
        </p:txBody>
      </p:sp>
      <p:pic>
        <p:nvPicPr>
          <p:cNvPr id="1026" name="Picture 2" descr="Key Stakeholders in Agile Product Development - Exposi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4897" y="3111601"/>
            <a:ext cx="5109103" cy="1927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26734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Especificação de Requisitos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00A2610-3E40-9E0B-A014-2A561FE7F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925" y="1325039"/>
            <a:ext cx="7168362" cy="327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7254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Especificação de Requisitos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2C37F4A-4A53-F84F-E8F4-BF474E704ED0}"/>
              </a:ext>
            </a:extLst>
          </p:cNvPr>
          <p:cNvSpPr txBox="1"/>
          <p:nvPr/>
        </p:nvSpPr>
        <p:spPr>
          <a:xfrm>
            <a:off x="1669925" y="1295719"/>
            <a:ext cx="677993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dirty="0" smtClean="0">
                <a:latin typeface="Arial" panose="020B0604020202020204" pitchFamily="34" charset="0"/>
              </a:rPr>
              <a:t>Invente </a:t>
            </a:r>
            <a:r>
              <a:rPr lang="pt-BR" dirty="0">
                <a:latin typeface="Arial" panose="020B0604020202020204" pitchFamily="34" charset="0"/>
              </a:rPr>
              <a:t>um formato-padrão e garanta que todas as definições de requisitos aderem a esse formato. A padronização do formato torna menos prováveis as omissões e mais fácil a verificação dos requisitos. </a:t>
            </a:r>
          </a:p>
          <a:p>
            <a:pPr marL="342900" indent="-342900">
              <a:buFont typeface="+mj-lt"/>
              <a:buAutoNum type="arabicPeriod"/>
            </a:pPr>
            <a:endParaRPr lang="pt-BR" dirty="0" smtClean="0">
              <a:latin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dirty="0" smtClean="0">
                <a:latin typeface="Arial" panose="020B0604020202020204" pitchFamily="34" charset="0"/>
              </a:rPr>
              <a:t>Use </a:t>
            </a:r>
            <a:r>
              <a:rPr lang="pt-BR" dirty="0">
                <a:latin typeface="Arial" panose="020B0604020202020204" pitchFamily="34" charset="0"/>
              </a:rPr>
              <a:t>uma linguagem consistente para distinguir entre os requisitos obrigatórios e os desejáveis. Os </a:t>
            </a:r>
            <a:r>
              <a:rPr lang="pt-BR" dirty="0" smtClean="0">
                <a:latin typeface="Arial" panose="020B0604020202020204" pitchFamily="34" charset="0"/>
              </a:rPr>
              <a:t>obrigatórios são </a:t>
            </a:r>
            <a:r>
              <a:rPr lang="pt-BR" dirty="0">
                <a:latin typeface="Arial" panose="020B0604020202020204" pitchFamily="34" charset="0"/>
              </a:rPr>
              <a:t>requisitos aos quais o sistema tem de dar suporte e geralmente são escritos usando-se 'deve'. </a:t>
            </a:r>
            <a:r>
              <a:rPr lang="pt-BR" dirty="0" smtClean="0">
                <a:latin typeface="Arial" panose="020B0604020202020204" pitchFamily="34" charset="0"/>
              </a:rPr>
              <a:t>Requisitos desejáveis </a:t>
            </a:r>
            <a:r>
              <a:rPr lang="pt-BR" dirty="0">
                <a:latin typeface="Arial" panose="020B0604020202020204" pitchFamily="34" charset="0"/>
              </a:rPr>
              <a:t>não são essenciais e são escritos </a:t>
            </a:r>
            <a:r>
              <a:rPr lang="pt-BR" dirty="0" smtClean="0">
                <a:latin typeface="Arial" panose="020B0604020202020204" pitchFamily="34" charset="0"/>
              </a:rPr>
              <a:t>usando-se 'pode'.</a:t>
            </a:r>
          </a:p>
          <a:p>
            <a:pPr marL="342900" indent="-342900">
              <a:buFont typeface="+mj-lt"/>
              <a:buAutoNum type="arabicPeriod"/>
            </a:pPr>
            <a:endParaRPr lang="pt-BR" dirty="0">
              <a:latin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dirty="0" smtClean="0">
                <a:latin typeface="Arial" panose="020B0604020202020204" pitchFamily="34" charset="0"/>
              </a:rPr>
              <a:t>Use </a:t>
            </a:r>
            <a:r>
              <a:rPr lang="pt-BR" dirty="0">
                <a:latin typeface="Arial" panose="020B0604020202020204" pitchFamily="34" charset="0"/>
              </a:rPr>
              <a:t>uma forma de destacar as partes fundamentais do requisito (negrito, itálico ou cores</a:t>
            </a:r>
            <a:r>
              <a:rPr lang="pt-BR" dirty="0" smtClean="0">
                <a:latin typeface="Arial" panose="020B0604020202020204" pitchFamily="34" charset="0"/>
              </a:rPr>
              <a:t>).</a:t>
            </a:r>
          </a:p>
          <a:p>
            <a:pPr marL="342900" indent="-342900">
              <a:buFont typeface="+mj-lt"/>
              <a:buAutoNum type="arabicPeriod"/>
            </a:pPr>
            <a:endParaRPr lang="pt-BR" dirty="0">
              <a:latin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dirty="0" smtClean="0">
                <a:latin typeface="Arial" panose="020B0604020202020204" pitchFamily="34" charset="0"/>
              </a:rPr>
              <a:t>Não </a:t>
            </a:r>
            <a:r>
              <a:rPr lang="pt-BR" dirty="0">
                <a:latin typeface="Arial" panose="020B0604020202020204" pitchFamily="34" charset="0"/>
              </a:rPr>
              <a:t>assuma que os leitores compreendem a linguagem técnica da engenharia de software. </a:t>
            </a:r>
            <a:r>
              <a:rPr lang="pt-BR" dirty="0" smtClean="0">
                <a:latin typeface="Arial" panose="020B0604020202020204" pitchFamily="34" charset="0"/>
              </a:rPr>
              <a:t>Frequentemente, palavras como 'arquitetura‘ e 'módulo‘ são </a:t>
            </a:r>
            <a:r>
              <a:rPr lang="pt-BR" dirty="0">
                <a:latin typeface="Arial" panose="020B0604020202020204" pitchFamily="34" charset="0"/>
              </a:rPr>
              <a:t>mal interpretadas. Você deve, portanto, evitar o uso de jargões, </a:t>
            </a:r>
            <a:r>
              <a:rPr lang="pt-BR" dirty="0" smtClean="0">
                <a:latin typeface="Arial" panose="020B0604020202020204" pitchFamily="34" charset="0"/>
              </a:rPr>
              <a:t>siglas e </a:t>
            </a:r>
            <a:r>
              <a:rPr lang="pt-BR" dirty="0">
                <a:latin typeface="Arial" panose="020B0604020202020204" pitchFamily="34" charset="0"/>
              </a:rPr>
              <a:t>acrônimos</a:t>
            </a:r>
            <a:r>
              <a:rPr lang="pt-BR" dirty="0" smtClean="0">
                <a:latin typeface="Arial" panose="020B0604020202020204" pitchFamily="34" charset="0"/>
              </a:rPr>
              <a:t>.</a:t>
            </a:r>
          </a:p>
          <a:p>
            <a:endParaRPr lang="pt-B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149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Especificação de Requisitos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1956317" y="1490230"/>
            <a:ext cx="634792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3.2 </a:t>
            </a:r>
            <a:r>
              <a:rPr lang="pt-BR" dirty="0" smtClean="0"/>
              <a:t>O </a:t>
            </a:r>
            <a:r>
              <a:rPr lang="pt-BR" dirty="0"/>
              <a:t>sistema deve medir o açúcar no sangue e fornecer insulina, se necessário, a cada dez minutos. </a:t>
            </a:r>
            <a:r>
              <a:rPr lang="pt-BR" dirty="0" smtClean="0"/>
              <a:t>(Mudanças </a:t>
            </a:r>
            <a:r>
              <a:rPr lang="pt-BR" dirty="0"/>
              <a:t>de açúcar no sangue </a:t>
            </a:r>
            <a:r>
              <a:rPr lang="pt-BR" dirty="0" smtClean="0"/>
              <a:t>são relativamente </a:t>
            </a:r>
            <a:r>
              <a:rPr lang="pt-BR" dirty="0"/>
              <a:t>lentas, portanto, medições mais </a:t>
            </a:r>
            <a:r>
              <a:rPr lang="pt-BR" dirty="0" smtClean="0"/>
              <a:t>frequentes são desnecessárias</a:t>
            </a:r>
            <a:r>
              <a:rPr lang="pt-BR" dirty="0"/>
              <a:t>; medições menos </a:t>
            </a:r>
            <a:r>
              <a:rPr lang="pt-BR" dirty="0" smtClean="0"/>
              <a:t>frequentes </a:t>
            </a:r>
            <a:r>
              <a:rPr lang="pt-BR" dirty="0"/>
              <a:t>podem levar a níveis de açúcar</a:t>
            </a:r>
          </a:p>
          <a:p>
            <a:r>
              <a:rPr lang="pt-BR" dirty="0"/>
              <a:t>desnecessariamente elevados</a:t>
            </a:r>
            <a:r>
              <a:rPr lang="pt-BR" dirty="0" smtClean="0"/>
              <a:t>.)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3.6 </a:t>
            </a:r>
            <a:r>
              <a:rPr lang="pt-BR" dirty="0" smtClean="0"/>
              <a:t>O </a:t>
            </a:r>
            <a:r>
              <a:rPr lang="pt-BR" dirty="0"/>
              <a:t>sistema deve, a cada minuto, executar uma rotina de </a:t>
            </a:r>
            <a:r>
              <a:rPr lang="pt-BR" dirty="0" smtClean="0"/>
              <a:t>auto teste </a:t>
            </a:r>
            <a:r>
              <a:rPr lang="pt-BR" dirty="0"/>
              <a:t>com as condições a serem testadas e as ações associadas definidas </a:t>
            </a:r>
            <a:r>
              <a:rPr lang="pt-BR" dirty="0" smtClean="0"/>
              <a:t>no Quadro </a:t>
            </a:r>
            <a:r>
              <a:rPr lang="pt-BR" dirty="0"/>
              <a:t>4.3 </a:t>
            </a:r>
            <a:r>
              <a:rPr lang="pt-BR" dirty="0" smtClean="0"/>
              <a:t>(A </a:t>
            </a:r>
            <a:r>
              <a:rPr lang="pt-BR" dirty="0"/>
              <a:t>rotina de </a:t>
            </a:r>
            <a:r>
              <a:rPr lang="pt-BR" dirty="0" smtClean="0"/>
              <a:t>auto teste </a:t>
            </a:r>
            <a:r>
              <a:rPr lang="pt-BR" dirty="0"/>
              <a:t>pode descobrir problemas de hardware e software e pode alertar o usuário para a impossibilidade de operar</a:t>
            </a:r>
          </a:p>
          <a:p>
            <a:r>
              <a:rPr lang="pt-BR" dirty="0"/>
              <a:t>normalmente.)</a:t>
            </a:r>
          </a:p>
        </p:txBody>
      </p:sp>
    </p:spTree>
    <p:extLst>
      <p:ext uri="{BB962C8B-B14F-4D97-AF65-F5344CB8AC3E}">
        <p14:creationId xmlns:p14="http://schemas.microsoft.com/office/powerpoint/2010/main" val="34422835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Especificação de Requisitos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1956317" y="1490230"/>
            <a:ext cx="6347927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A linguagem natural estruturada é uma forma de escrever os requisitos do sistema na qual a liberdade do escritor dos requisitos é limitada e todos os requisitos são escritos em uma forma-padrão. </a:t>
            </a:r>
            <a:endParaRPr lang="pt-BR" dirty="0" smtClean="0"/>
          </a:p>
          <a:p>
            <a:endParaRPr lang="pt-BR" dirty="0"/>
          </a:p>
          <a:p>
            <a:r>
              <a:rPr lang="pt-BR" dirty="0" smtClean="0"/>
              <a:t>Essa </a:t>
            </a:r>
            <a:r>
              <a:rPr lang="pt-BR" dirty="0"/>
              <a:t>abordagem mantém grande parte da expressividade e compreensão da linguagem natural, mas garante certa uniformidade imposta sobre a especificação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dirty="0" smtClean="0"/>
              <a:t> </a:t>
            </a:r>
            <a:r>
              <a:rPr lang="pt-BR" dirty="0"/>
              <a:t>Notações de linguagem estruturada usam </a:t>
            </a:r>
            <a:r>
              <a:rPr lang="pt-BR" dirty="0" err="1"/>
              <a:t>templates</a:t>
            </a:r>
            <a:r>
              <a:rPr lang="pt-BR" dirty="0"/>
              <a:t> para especificar os requisitos de sistema. </a:t>
            </a:r>
            <a:endParaRPr lang="pt-BR" dirty="0" smtClean="0"/>
          </a:p>
          <a:p>
            <a:endParaRPr lang="pt-BR" dirty="0"/>
          </a:p>
          <a:p>
            <a:r>
              <a:rPr lang="pt-BR" dirty="0" smtClean="0"/>
              <a:t>A </a:t>
            </a:r>
            <a:r>
              <a:rPr lang="pt-BR" dirty="0"/>
              <a:t>especificação pode usar construções de linguagem de programação para mostrar alternativas e iteração; além disso, pode destacar elementos-chave pelo uso de sombreamento ou fontes diferentes.</a:t>
            </a:r>
          </a:p>
        </p:txBody>
      </p:sp>
    </p:spTree>
    <p:extLst>
      <p:ext uri="{BB962C8B-B14F-4D97-AF65-F5344CB8AC3E}">
        <p14:creationId xmlns:p14="http://schemas.microsoft.com/office/powerpoint/2010/main" val="1280916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Especificação de Requisitos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1956317" y="1490230"/>
            <a:ext cx="6347927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Para usar uma abordagem estruturada para especificação de requisitos de sistema, você pode definir um ou mais </a:t>
            </a:r>
            <a:r>
              <a:rPr lang="pt-BR" dirty="0" err="1"/>
              <a:t>templates</a:t>
            </a:r>
            <a:r>
              <a:rPr lang="pt-BR" dirty="0"/>
              <a:t> para representar esses requisitos como formulários estruturados. 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A </a:t>
            </a:r>
            <a:r>
              <a:rPr lang="pt-BR" dirty="0"/>
              <a:t>especificação pode ser estruturada em torno dos objetos manipulados pelo sistema, das funções desempenhadas pelo sistema, ou pelos eventos processados pelo sistema. </a:t>
            </a:r>
          </a:p>
        </p:txBody>
      </p:sp>
    </p:spTree>
    <p:extLst>
      <p:ext uri="{BB962C8B-B14F-4D97-AF65-F5344CB8AC3E}">
        <p14:creationId xmlns:p14="http://schemas.microsoft.com/office/powerpoint/2010/main" val="20900498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Especificação de Requisitos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925" y="1132114"/>
            <a:ext cx="7130513" cy="3825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4881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Especificação de Requisitos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2286000" y="1232922"/>
            <a:ext cx="612399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pt-BR" dirty="0" smtClean="0"/>
              <a:t>A </a:t>
            </a:r>
            <a:r>
              <a:rPr lang="pt-BR" dirty="0"/>
              <a:t>descrição da função ou entidade a ser especificada. </a:t>
            </a:r>
            <a:endParaRPr lang="pt-BR" dirty="0" smtClean="0"/>
          </a:p>
          <a:p>
            <a:pPr marL="342900" indent="-342900">
              <a:buFont typeface="+mj-lt"/>
              <a:buAutoNum type="arabicPeriod"/>
            </a:pPr>
            <a:endParaRPr lang="pt-BR" dirty="0" smtClean="0"/>
          </a:p>
          <a:p>
            <a:pPr marL="342900" indent="-342900">
              <a:buAutoNum type="arabicPeriod"/>
            </a:pPr>
            <a:r>
              <a:rPr lang="pt-BR" dirty="0" smtClean="0"/>
              <a:t>Uma </a:t>
            </a:r>
            <a:r>
              <a:rPr lang="pt-BR" dirty="0"/>
              <a:t>descrição de suas entradas e de onde elas vieram. </a:t>
            </a:r>
            <a:endParaRPr lang="pt-BR" dirty="0" smtClean="0"/>
          </a:p>
          <a:p>
            <a:pPr marL="342900" indent="-342900">
              <a:buFont typeface="+mj-lt"/>
              <a:buAutoNum type="arabicPeriod"/>
            </a:pPr>
            <a:endParaRPr lang="pt-BR" dirty="0" smtClean="0"/>
          </a:p>
          <a:p>
            <a:pPr marL="342900" indent="-342900">
              <a:buAutoNum type="arabicPeriod"/>
            </a:pPr>
            <a:r>
              <a:rPr lang="pt-BR" dirty="0" smtClean="0"/>
              <a:t>Uma </a:t>
            </a:r>
            <a:r>
              <a:rPr lang="pt-BR" dirty="0"/>
              <a:t>descrição de suas saídas e para onde elas irão. </a:t>
            </a:r>
            <a:endParaRPr lang="pt-BR" dirty="0" smtClean="0"/>
          </a:p>
          <a:p>
            <a:pPr marL="342900" indent="-342900">
              <a:buFont typeface="+mj-lt"/>
              <a:buAutoNum type="arabicPeriod"/>
            </a:pPr>
            <a:endParaRPr lang="pt-BR" dirty="0" smtClean="0"/>
          </a:p>
          <a:p>
            <a:pPr marL="342900" indent="-342900">
              <a:buAutoNum type="arabicPeriod"/>
            </a:pPr>
            <a:r>
              <a:rPr lang="pt-BR" dirty="0" smtClean="0"/>
              <a:t>Informações </a:t>
            </a:r>
            <a:r>
              <a:rPr lang="pt-BR" dirty="0"/>
              <a:t>sobre a informação necessária para o processamento ou outras entidades usadas no sistema (a parte '</a:t>
            </a:r>
            <a:r>
              <a:rPr lang="pt-BR" dirty="0" err="1"/>
              <a:t>requires</a:t>
            </a:r>
            <a:r>
              <a:rPr lang="pt-BR" dirty="0"/>
              <a:t>'). </a:t>
            </a:r>
            <a:endParaRPr lang="pt-BR" dirty="0" smtClean="0"/>
          </a:p>
          <a:p>
            <a:pPr marL="342900" indent="-342900">
              <a:buFont typeface="+mj-lt"/>
              <a:buAutoNum type="arabicPeriod"/>
            </a:pPr>
            <a:endParaRPr lang="pt-BR" dirty="0" smtClean="0"/>
          </a:p>
          <a:p>
            <a:pPr marL="342900" indent="-342900">
              <a:buAutoNum type="arabicPeriod"/>
            </a:pPr>
            <a:r>
              <a:rPr lang="pt-BR" dirty="0" smtClean="0"/>
              <a:t>Uma </a:t>
            </a:r>
            <a:r>
              <a:rPr lang="pt-BR" dirty="0"/>
              <a:t>descrição da ação a ser tomada. </a:t>
            </a:r>
            <a:endParaRPr lang="pt-BR" dirty="0" smtClean="0"/>
          </a:p>
          <a:p>
            <a:pPr marL="342900" indent="-342900">
              <a:buFont typeface="+mj-lt"/>
              <a:buAutoNum type="arabicPeriod"/>
            </a:pPr>
            <a:endParaRPr lang="pt-BR" dirty="0" smtClean="0"/>
          </a:p>
          <a:p>
            <a:pPr marL="342900" indent="-342900">
              <a:buAutoNum type="arabicPeriod"/>
            </a:pPr>
            <a:r>
              <a:rPr lang="pt-BR" dirty="0" smtClean="0"/>
              <a:t>Se </a:t>
            </a:r>
            <a:r>
              <a:rPr lang="pt-BR" dirty="0"/>
              <a:t>uma abordagem funcional é usada, uma pré-condição define o que deve ser verdade antes que a função seja chamada, e é chamada uma pós-condição, especificando o que é verdade depois da </a:t>
            </a:r>
            <a:r>
              <a:rPr lang="pt-BR" dirty="0" smtClean="0"/>
              <a:t>função.</a:t>
            </a:r>
          </a:p>
          <a:p>
            <a:pPr marL="342900" indent="-342900">
              <a:buFont typeface="+mj-lt"/>
              <a:buAutoNum type="arabicPeriod"/>
            </a:pPr>
            <a:endParaRPr lang="pt-BR" dirty="0" smtClean="0"/>
          </a:p>
          <a:p>
            <a:pPr marL="342900" indent="-342900">
              <a:buAutoNum type="arabicPeriod"/>
            </a:pPr>
            <a:r>
              <a:rPr lang="pt-BR" dirty="0" smtClean="0"/>
              <a:t>Uma </a:t>
            </a:r>
            <a:r>
              <a:rPr lang="pt-BR" dirty="0"/>
              <a:t>descrição dos efeitos colaterais da operação (caso haja algum).</a:t>
            </a:r>
          </a:p>
        </p:txBody>
      </p:sp>
    </p:spTree>
    <p:extLst>
      <p:ext uri="{BB962C8B-B14F-4D97-AF65-F5344CB8AC3E}">
        <p14:creationId xmlns:p14="http://schemas.microsoft.com/office/powerpoint/2010/main" val="1738152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Especificação de Requisitos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1669925" y="1232922"/>
            <a:ext cx="695156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Usar as especificações estruturadas elimina alguns dos problemas de especificação em linguagem natural. 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Reduz-se </a:t>
            </a:r>
            <a:r>
              <a:rPr lang="pt-BR" dirty="0"/>
              <a:t>a variabilidade na especificação, e os requisitos são organizados de forma mais eficaz. 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No </a:t>
            </a:r>
            <a:r>
              <a:rPr lang="pt-BR" dirty="0"/>
              <a:t>entanto, algumas vezes ainda é difícil escrever os requisitos de forma clara e inequívoca, especialmente quando processamentos complexos (como, por exemplo, calcular a dose de insulina) devem ser especificados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pPr algn="ctr"/>
            <a:r>
              <a:rPr lang="pt-BR" b="1" dirty="0">
                <a:solidFill>
                  <a:srgbClr val="FF0000"/>
                </a:solidFill>
              </a:rPr>
              <a:t>Para resolver esse problema, você pode adicionar informações extras aos requisitos em linguagem </a:t>
            </a:r>
            <a:r>
              <a:rPr lang="pt-BR" b="1" dirty="0" smtClean="0">
                <a:solidFill>
                  <a:srgbClr val="FF0000"/>
                </a:solidFill>
              </a:rPr>
              <a:t>natural.</a:t>
            </a:r>
          </a:p>
          <a:p>
            <a:pPr algn="ctr"/>
            <a:endParaRPr lang="pt-BR" b="1" dirty="0" smtClean="0">
              <a:solidFill>
                <a:srgbClr val="FF0000"/>
              </a:solidFill>
            </a:endParaRPr>
          </a:p>
          <a:p>
            <a:pPr algn="ctr"/>
            <a:r>
              <a:rPr lang="pt-BR" dirty="0" smtClean="0"/>
              <a:t> Usando </a:t>
            </a:r>
            <a:r>
              <a:rPr lang="pt-BR" dirty="0"/>
              <a:t>tabelas ou modelos gráficos do sistema, por exemplo. Estes podem mostrar como os cálculos são executados, como o sistema muda de estado, como os usuários interagem com o sistema e como </a:t>
            </a:r>
            <a:r>
              <a:rPr lang="pt-BR" dirty="0" smtClean="0"/>
              <a:t>sequências </a:t>
            </a:r>
            <a:r>
              <a:rPr lang="pt-BR" dirty="0"/>
              <a:t>de ações são executadas.</a:t>
            </a:r>
          </a:p>
        </p:txBody>
      </p:sp>
    </p:spTree>
    <p:extLst>
      <p:ext uri="{BB962C8B-B14F-4D97-AF65-F5344CB8AC3E}">
        <p14:creationId xmlns:p14="http://schemas.microsoft.com/office/powerpoint/2010/main" val="31137024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Especificação de Requisitos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5" y="1822580"/>
            <a:ext cx="8971058" cy="213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3983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1">
            <a:extLst>
              <a:ext uri="{FF2B5EF4-FFF2-40B4-BE49-F238E27FC236}">
                <a16:creationId xmlns:a16="http://schemas.microsoft.com/office/drawing/2014/main" id="{90DD72BE-2967-F9B0-697E-4C46EA98B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buSzPct val="100000"/>
              <a:defRPr/>
            </a:pPr>
            <a:r>
              <a:rPr lang="pt-BR" altLang="pt-BR" sz="2400" b="1" dirty="0" smtClean="0">
                <a:solidFill>
                  <a:schemeClr val="tx1"/>
                </a:solidFill>
                <a:latin typeface="Times New Roman"/>
                <a:cs typeface="Times New Roman"/>
              </a:rPr>
              <a:t>Vamos Treinar</a:t>
            </a:r>
            <a:endParaRPr lang="pt-BR" alt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1669925" y="1232922"/>
            <a:ext cx="6951561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Utilizando um modelo para especificação de requisitos (Código, Nome, Prioridade, Descrição, Entradas e Saídas), crie o seguinte documento:</a:t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1. Introdução (Descrição breve do projeto)</a:t>
            </a:r>
          </a:p>
          <a:p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2. Requisitos Funcionais </a:t>
            </a:r>
          </a:p>
          <a:p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3. Requisitos Não-Funcionais</a:t>
            </a:r>
          </a:p>
          <a:p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4. Regras de Negócio </a:t>
            </a:r>
          </a:p>
          <a:p>
            <a:endParaRPr lang="pt-BR" dirty="0"/>
          </a:p>
          <a:p>
            <a:r>
              <a:rPr lang="pt-BR" dirty="0" smtClean="0"/>
              <a:t>Sugestão de modelo:</a:t>
            </a:r>
          </a:p>
          <a:p>
            <a:endParaRPr lang="pt-BR" dirty="0"/>
          </a:p>
          <a:p>
            <a:r>
              <a:rPr lang="pt-BR" dirty="0" smtClean="0"/>
              <a:t>Funcional e Não-Funcional &gt; </a:t>
            </a:r>
            <a:r>
              <a:rPr lang="pt-BR" dirty="0" smtClean="0">
                <a:hlinkClick r:id="rId3"/>
              </a:rPr>
              <a:t>https</a:t>
            </a:r>
            <a:r>
              <a:rPr lang="pt-BR" dirty="0">
                <a:hlinkClick r:id="rId3"/>
              </a:rPr>
              <a:t>://www.facom.ufu.br/~</a:t>
            </a:r>
            <a:r>
              <a:rPr lang="pt-BR" dirty="0" smtClean="0">
                <a:hlinkClick r:id="rId3"/>
              </a:rPr>
              <a:t>ronaldooliveira/PDS-2019-1/Aula6-ModeloRequisitos.pdf</a:t>
            </a:r>
            <a:endParaRPr lang="pt-BR" dirty="0" smtClean="0"/>
          </a:p>
          <a:p>
            <a:r>
              <a:rPr lang="pt-BR" dirty="0"/>
              <a:t>Ou https://www2.ufjf.br/diavi//files/2016/07/DocumentosdeRequisitosdoSistema.pdf</a:t>
            </a:r>
            <a:endParaRPr lang="pt-BR" dirty="0" smtClean="0"/>
          </a:p>
          <a:p>
            <a:endParaRPr lang="pt-BR" dirty="0"/>
          </a:p>
          <a:p>
            <a:r>
              <a:rPr lang="pt-BR" dirty="0" smtClean="0"/>
              <a:t>Regras </a:t>
            </a:r>
            <a:r>
              <a:rPr lang="pt-BR" dirty="0"/>
              <a:t>de Negócio &gt; https://www.alura.com.br/artigos/o-que-sao-regras-de-negocio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82169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4DE1E3-997C-EDB8-8636-5EC9991AA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300" y="355831"/>
            <a:ext cx="5016000" cy="676725"/>
          </a:xfrm>
        </p:spPr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61D976-6100-372F-755F-863F48786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9533" y="1346911"/>
            <a:ext cx="6458480" cy="1066500"/>
          </a:xfrm>
        </p:spPr>
        <p:txBody>
          <a:bodyPr/>
          <a:lstStyle/>
          <a:p>
            <a:r>
              <a:rPr lang="pt-BR" dirty="0"/>
              <a:t>Engenharia de Software, Ian </a:t>
            </a:r>
            <a:r>
              <a:rPr lang="pt-BR" dirty="0" err="1"/>
              <a:t>Sommerville</a:t>
            </a:r>
            <a:endParaRPr lang="pt-BR" dirty="0"/>
          </a:p>
          <a:p>
            <a:endParaRPr lang="pt-BR" dirty="0"/>
          </a:p>
          <a:p>
            <a:r>
              <a:rPr lang="pt-BR" dirty="0">
                <a:hlinkClick r:id="rId2"/>
              </a:rPr>
              <a:t>http://www.inf.ufes.br/~jssalamon/wp-content/uploads/disciplinas/engreq/slides/Slide%202%20-%20Introdu%C3%A7%C3%A3o%20%C3%A0%20Engenharia%20de%20Requisitos.pdf</a:t>
            </a:r>
            <a:endParaRPr lang="pt-BR" dirty="0"/>
          </a:p>
          <a:p>
            <a:endParaRPr lang="pt-BR" dirty="0"/>
          </a:p>
          <a:p>
            <a:r>
              <a:rPr lang="pt-BR" dirty="0"/>
              <a:t>https://slideplayer.com.br/slide/1594477/</a:t>
            </a:r>
          </a:p>
        </p:txBody>
      </p:sp>
    </p:spTree>
    <p:extLst>
      <p:ext uri="{BB962C8B-B14F-4D97-AF65-F5344CB8AC3E}">
        <p14:creationId xmlns:p14="http://schemas.microsoft.com/office/powerpoint/2010/main" val="21737171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5"/>
          <p:cNvSpPr txBox="1">
            <a:spLocks noGrp="1"/>
          </p:cNvSpPr>
          <p:nvPr>
            <p:ph type="ctrTitle"/>
          </p:nvPr>
        </p:nvSpPr>
        <p:spPr>
          <a:xfrm>
            <a:off x="2106771" y="1852628"/>
            <a:ext cx="6135000" cy="115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6400" dirty="0">
                <a:solidFill>
                  <a:srgbClr val="252525"/>
                </a:solidFill>
              </a:rPr>
              <a:t>Obrigado!!</a:t>
            </a:r>
            <a:endParaRPr sz="6400" dirty="0">
              <a:solidFill>
                <a:srgbClr val="174584"/>
              </a:solidFill>
            </a:endParaRP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7D24FA3C-6D44-DB4A-A9E2-8075D98883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436160" y="3780429"/>
            <a:ext cx="1571756" cy="50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949000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lue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</TotalTime>
  <Words>2813</Words>
  <Application>Microsoft Office PowerPoint</Application>
  <PresentationFormat>Apresentação na tela (16:9)</PresentationFormat>
  <Paragraphs>241</Paragraphs>
  <Slides>40</Slides>
  <Notes>39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8" baseType="lpstr">
      <vt:lpstr>Söhne</vt:lpstr>
      <vt:lpstr>Montserrat</vt:lpstr>
      <vt:lpstr>Montserrat SemiBold</vt:lpstr>
      <vt:lpstr>Montserrat ExtraBold</vt:lpstr>
      <vt:lpstr>Arial</vt:lpstr>
      <vt:lpstr>Times New Roman</vt:lpstr>
      <vt:lpstr>Spectral Light</vt:lpstr>
      <vt:lpstr>Elegant Blue</vt:lpstr>
      <vt:lpstr>Engenharia de Requisitos      Tarik Ponciano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Referências</vt:lpstr>
      <vt:lpstr>Obrigado!!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Doraneide Albuquerque Fernandes</dc:creator>
  <cp:lastModifiedBy>Aluno</cp:lastModifiedBy>
  <cp:revision>680</cp:revision>
  <dcterms:modified xsi:type="dcterms:W3CDTF">2024-04-01T20:34:35Z</dcterms:modified>
</cp:coreProperties>
</file>